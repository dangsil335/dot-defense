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  <p:sldId id="261" r:id="rId6"/>
    <p:sldId id="262" r:id="rId5"/>
    <p:sldId id="263" r:id="rId4"/>
    <p:sldId id="264" r:id="rId3"/>
    <p:sldId id="265" r:id="rId2"/>
    <p:sldId id="266" r:id="rId17"/>
    <p:sldId id="267" r:id="rId18"/>
    <p:sldId id="268" r:id="rId19"/>
    <p:sldId id="269" r:id="rId20"/>
    <p:sldId id="270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DECD"/>
    <a:srgbClr val="EEE1CD"/>
    <a:srgbClr val="82533D"/>
    <a:srgbClr val="444256"/>
    <a:srgbClr val="D9B798"/>
    <a:srgbClr val="4C2E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0.xml"/><Relationship Id="rId3" Type="http://schemas.openxmlformats.org/officeDocument/2006/relationships/slide" Target="slides/slide9.xml"/><Relationship Id="rId4" Type="http://schemas.openxmlformats.org/officeDocument/2006/relationships/slide" Target="slides/slide8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80A36F-5E56-46F1-A22B-C99C7803F91C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AB5B2-DA72-45D8-92A3-875E03BDC0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886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1E2EF7-EEFE-80F3-FBEB-E1EB47ACB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3586DA9-708D-B56B-3685-C03B6B22B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5B8EC3-7A55-A790-524A-A66180C64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44B6-F6B6-49B2-AC42-488ECAE9DDBF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097308-BB54-2217-F2EE-C092FDD0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3E2F69-20B4-B05B-7230-FC78B7448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E4B6-4F11-48FE-9E22-7DA78BB41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624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016448-DBB8-A79E-1179-BEFBB6CB3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0943FB-133E-F56C-B1F9-1668F4F1C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5BF30C-EB3E-BBC4-2003-74E858B29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44B6-F6B6-49B2-AC42-488ECAE9DDBF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5E1694-F9AC-98BC-6735-A201AF49A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DC66F1-50C1-85FF-DA05-1540D321F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E4B6-4F11-48FE-9E22-7DA78BB41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929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53756E-5F01-A72D-7AE6-1A47532B2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B2B209-1757-C573-244A-CE99397BF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134AFA-6669-1169-B08A-5434894C5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44B6-F6B6-49B2-AC42-488ECAE9DDBF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9011B2-543B-3547-B7A8-012779913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B5CC2C-1A99-E454-9519-CE4CB9D73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E4B6-4F11-48FE-9E22-7DA78BB41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5009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A0290B-9ED3-F855-C75B-C1772765D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9439E7-3D99-CADB-FD41-369179F258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949BACC-630F-9DBB-F0E1-2A0C30F63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4ABEA9-9CD0-1CF0-4C29-B09501A8F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44B6-F6B6-49B2-AC42-488ECAE9DDBF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8538BA-9370-BFC7-3C2E-6E445B231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B59D9F-38ED-7878-0B2A-E26F571E9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E4B6-4F11-48FE-9E22-7DA78BB41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118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ECBBC0-53D9-DBFC-9B98-84FDB1E7A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BB290A-03C8-3025-B041-626B1A507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875447-8E68-532E-0608-D60A54F22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79C8C1B-9572-F5BE-61F2-5DF2ACCB71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942429F-894E-59C1-EAED-61F0C7442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2FF1183-9C9E-9F1D-3955-DD241EE67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44B6-F6B6-49B2-AC42-488ECAE9DDBF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7C47041-093E-467D-EA5C-CDD49D043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6B806F9-0D5C-5011-4797-B2C91AC15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E4B6-4F11-48FE-9E22-7DA78BB41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388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0B979F-6667-98BC-4B06-A118945F2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5A10165-A92F-F2AD-7C0A-FDB7F6C6A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44B6-F6B6-49B2-AC42-488ECAE9DDBF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7F3236-340A-172D-2272-F05B3DBE0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857FC2-14E7-1F4E-6C86-BD302A65F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E4B6-4F11-48FE-9E22-7DA78BB41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137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5E41B53-4FAF-2454-C81D-98D96793D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44B6-F6B6-49B2-AC42-488ECAE9DDBF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260057E-1E0A-E696-333F-97DEBF532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7823AE-2A23-0C3B-A415-706A45457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E4B6-4F11-48FE-9E22-7DA78BB41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0129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855FF-E240-A102-CCBB-A0BD17335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4AA9DD-34F8-1746-C04D-6B3E2921F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EFB268-C6B4-C476-554B-9B92E17E6E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DECC2D-CA72-5873-298B-14B11F816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44B6-F6B6-49B2-AC42-488ECAE9DDBF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545B69-656E-18E8-A16A-FB10B1B79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98D45C-8C6C-8CC7-59E9-9918D771B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E4B6-4F11-48FE-9E22-7DA78BB41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656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BAE479-E257-DAD3-EB45-C769B2404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3D0EB1-1A17-08B8-E41B-F31F545253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93065F-4EC0-4694-22F6-C025F05BB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D991A8-66D1-612B-8938-4E50B8AD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44B6-F6B6-49B2-AC42-488ECAE9DDBF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5DB0A0-BE99-95D9-206B-55B26E331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7FE3C3-50C7-E734-B357-40B22EB3F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E4B6-4F11-48FE-9E22-7DA78BB41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162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AF5DE5-CA95-318C-57B3-6EC6CE13E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6A26C49-518E-F89A-3F8B-1D41781A6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F93BFE-EE6A-800C-BC8C-324C0C7E9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44B6-F6B6-49B2-AC42-488ECAE9DDBF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0B3C09-22F7-5E9D-6745-737D65DAE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D662E6-E745-D325-2974-0984ADE35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E4B6-4F11-48FE-9E22-7DA78BB41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941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41D8664-AD74-3E21-7C78-900F9910DE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DC0EEF6-AC7A-F69A-B29D-67ED4EC429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882600-8FF0-545E-F4BB-D559984BD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44B6-F6B6-49B2-AC42-488ECAE9DDBF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CFD497-14FA-ED52-40AC-9F5BF3B73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AA18C4-DEE0-4883-DF9A-AF1E589B7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4E4B6-4F11-48FE-9E22-7DA78BB41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9105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 레이아웃">
  <p:cSld name="사용자 지정 레이아웃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-3443"/>
            <a:ext cx="12192000" cy="32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" name="Google Shape;52;p13"/>
          <p:cNvSpPr/>
          <p:nvPr/>
        </p:nvSpPr>
        <p:spPr>
          <a:xfrm>
            <a:off x="107372" y="438337"/>
            <a:ext cx="720000" cy="641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3" name="Google Shape;53;p13"/>
          <p:cNvCxnSpPr/>
          <p:nvPr/>
        </p:nvCxnSpPr>
        <p:spPr>
          <a:xfrm>
            <a:off x="814980" y="934760"/>
            <a:ext cx="38132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4" name="Google Shape;54;p13"/>
          <p:cNvSpPr txBox="1">
            <a:spLocks noGrp="1"/>
          </p:cNvSpPr>
          <p:nvPr>
            <p:ph type="body" idx="1"/>
          </p:nvPr>
        </p:nvSpPr>
        <p:spPr>
          <a:xfrm>
            <a:off x="194476" y="553307"/>
            <a:ext cx="533600" cy="4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609585" marR="0" lvl="0" indent="-304792" algn="ctr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1219170" marR="0" lvl="1" indent="-457189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828754" marR="0" lvl="2" indent="-431789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2438339" marR="0" lvl="3" indent="-4233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3047924" marR="0" lvl="4" indent="-4233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3657509" marR="0" lvl="5" indent="-4233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4267093" marR="0" lvl="6" indent="-4233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4876678" marR="0" lvl="7" indent="-4233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5486263" marR="0" lvl="8" indent="-423323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2"/>
          </p:nvPr>
        </p:nvSpPr>
        <p:spPr>
          <a:xfrm>
            <a:off x="827452" y="550423"/>
            <a:ext cx="3623600" cy="3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609585" marR="0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67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1219170" marR="0" lvl="1" indent="-457189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828754" marR="0" lvl="2" indent="-431789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2438339" marR="0" lvl="3" indent="-4233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3047924" marR="0" lvl="4" indent="-4233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3657509" marR="0" lvl="5" indent="-4233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4267093" marR="0" lvl="6" indent="-4233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4876678" marR="0" lvl="7" indent="-4233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5486263" marR="0" lvl="8" indent="-423323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38260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0E9D428-2F33-4ECB-7967-3ECBEC4E1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585C79-4E59-7312-67B6-2903D62B8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B7069E-9873-16E3-4648-38FD252502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8A44B6-F6B6-49B2-AC42-488ECAE9DDBF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CDAE03-8FE5-0295-F99C-97A5FC3354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EDBC41-19EA-E333-A618-125D0DC202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4E4B6-4F11-48FE-9E22-7DA78BB418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904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1664" y="2268000"/>
            <a:ext cx="11648673" cy="20159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7000"/>
              </a:lnSpc>
            </a:pPr>
            <a:r>
              <a:rPr lang="ko-KR" altLang="en-US" sz="60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[Dot Defense 3D : 인게임 UI 현행 기획서]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4393002"/>
          <a:ext cx="5749067" cy="246499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943700"/>
                <a:gridCol w="754467"/>
                <a:gridCol w="4050900"/>
              </a:tblGrid>
              <a:tr h="30812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/>
                          <a:sym typeface="Malgun Gothic"/>
                        </a:rPr>
                        <a:t>작성일</a:t>
                      </a:r>
                    </a:p>
                  </a:txBody>
                  <a:tcPr marL="121933" marR="121933" marT="27432" marB="27432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/>
                          <a:sym typeface="Malgun Gothic"/>
                        </a:rPr>
                        <a:t>작성자</a:t>
                      </a:r>
                    </a:p>
                  </a:txBody>
                  <a:tcPr marL="121933" marR="121933" marT="27432" marB="27432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/>
                          <a:sym typeface="Malgun Gothic"/>
                        </a:rPr>
                        <a:t>작성 내용</a:t>
                      </a:r>
                    </a:p>
                  </a:txBody>
                  <a:tcPr marL="121933" marR="121933" marT="27432" marB="27432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</a:tr>
              <a:tr h="30812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/>
                          <a:sym typeface="Malgun Gothic"/>
                        </a:rPr>
                        <a:t> </a:t>
                      </a:r>
                    </a:p>
                  </a:txBody>
                  <a:tcPr marL="121933" marR="121933" marT="27432" marB="27432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/>
                          <a:sym typeface="Malgun Gothic"/>
                        </a:rPr>
                        <a:t> </a:t>
                      </a:r>
                    </a:p>
                  </a:txBody>
                  <a:tcPr marL="121933" marR="121933" marT="27432" marB="27432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/>
                          <a:sym typeface="Malgun Gothic"/>
                        </a:rPr>
                        <a:t> </a:t>
                      </a:r>
                    </a:p>
                  </a:txBody>
                  <a:tcPr marL="121933" marR="121933" marT="27432" marB="27432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30812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/>
                          <a:sym typeface="Malgun Gothic"/>
                        </a:rPr>
                        <a:t> </a:t>
                      </a:r>
                    </a:p>
                  </a:txBody>
                  <a:tcPr marL="121933" marR="121933" marT="27432" marB="27432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/>
                          <a:sym typeface="Malgun Gothic"/>
                        </a:rPr>
                        <a:t> </a:t>
                      </a:r>
                    </a:p>
                  </a:txBody>
                  <a:tcPr marL="121933" marR="121933" marT="27432" marB="27432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/>
                          <a:sym typeface="Malgun Gothic"/>
                        </a:rPr>
                        <a:t> </a:t>
                      </a:r>
                    </a:p>
                  </a:txBody>
                  <a:tcPr marL="121933" marR="121933" marT="27432" marB="27432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30812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/>
                          <a:sym typeface="Malgun Gothic"/>
                        </a:rPr>
                        <a:t> </a:t>
                      </a:r>
                    </a:p>
                  </a:txBody>
                  <a:tcPr marL="121933" marR="121933" marT="27432" marB="27432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/>
                          <a:sym typeface="Malgun Gothic"/>
                        </a:rPr>
                        <a:t> </a:t>
                      </a:r>
                    </a:p>
                  </a:txBody>
                  <a:tcPr marL="121933" marR="121933" marT="27432" marB="27432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/>
                          <a:sym typeface="Malgun Gothic"/>
                        </a:rPr>
                        <a:t> </a:t>
                      </a:r>
                    </a:p>
                  </a:txBody>
                  <a:tcPr marL="121933" marR="121933" marT="27432" marB="27432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30812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/>
                          <a:sym typeface="Malgun Gothic"/>
                        </a:rPr>
                        <a:t> </a:t>
                      </a:r>
                    </a:p>
                  </a:txBody>
                  <a:tcPr marL="121933" marR="121933" marT="27432" marB="27432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/>
                          <a:sym typeface="Malgun Gothic"/>
                        </a:rPr>
                        <a:t> </a:t>
                      </a:r>
                    </a:p>
                  </a:txBody>
                  <a:tcPr marL="121933" marR="121933" marT="27432" marB="27432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/>
                          <a:sym typeface="Malgun Gothic"/>
                        </a:rPr>
                        <a:t> </a:t>
                      </a:r>
                    </a:p>
                  </a:txBody>
                  <a:tcPr marL="121933" marR="121933" marT="27432" marB="27432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30812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/>
                          <a:sym typeface="Malgun Gothic"/>
                        </a:rPr>
                        <a:t> </a:t>
                      </a:r>
                    </a:p>
                  </a:txBody>
                  <a:tcPr marL="121933" marR="121933" marT="27432" marB="27432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/>
                          <a:sym typeface="Malgun Gothic"/>
                        </a:rPr>
                        <a:t> </a:t>
                      </a:r>
                    </a:p>
                  </a:txBody>
                  <a:tcPr marL="121933" marR="121933" marT="27432" marB="27432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/>
                          <a:sym typeface="Malgun Gothic"/>
                        </a:rPr>
                        <a:t> </a:t>
                      </a:r>
                    </a:p>
                  </a:txBody>
                  <a:tcPr marL="121933" marR="121933" marT="27432" marB="27432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30812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/>
                          <a:sym typeface="Malgun Gothic"/>
                        </a:rPr>
                        <a:t> </a:t>
                      </a:r>
                    </a:p>
                  </a:txBody>
                  <a:tcPr marL="121933" marR="121933" marT="27432" marB="27432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/>
                          <a:sym typeface="Malgun Gothic"/>
                        </a:rPr>
                        <a:t> </a:t>
                      </a:r>
                    </a:p>
                  </a:txBody>
                  <a:tcPr marL="121933" marR="121933" marT="27432" marB="27432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/>
                          <a:sym typeface="Malgun Gothic"/>
                        </a:rPr>
                        <a:t> </a:t>
                      </a:r>
                    </a:p>
                  </a:txBody>
                  <a:tcPr marL="121933" marR="121933" marT="27432" marB="27432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30812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/>
                          <a:sym typeface="Malgun Gothic"/>
                        </a:rPr>
                        <a:t> </a:t>
                      </a:r>
                    </a:p>
                  </a:txBody>
                  <a:tcPr marL="121933" marR="121933" marT="27432" marB="27432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/>
                          <a:sym typeface="Malgun Gothic"/>
                        </a:rPr>
                        <a:t> </a:t>
                      </a:r>
                    </a:p>
                  </a:txBody>
                  <a:tcPr marL="121933" marR="121933" marT="27432" marB="27432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/>
                          <a:sym typeface="Malgun Gothic"/>
                        </a:rPr>
                        <a:t> </a:t>
                      </a:r>
                    </a:p>
                  </a:txBody>
                  <a:tcPr marL="121933" marR="121933" marT="27432" marB="27432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07372" y="553307"/>
            <a:ext cx="720000" cy="41120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ko-KR" altLang="en-US" sz="28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ko-KR" altLang="en-US" sz="18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화면 구조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2597" y="1275557"/>
            <a:ext cx="7771511" cy="47427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ko-KR" altLang="en-US" sz="12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현행 UI 설명 — 지금 있는 것과 그 동작만 기재 ( 요구사항·변경 요청은 별도 기재 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7200" y="2062800"/>
            <a:ext cx="6282000" cy="3538800"/>
          </a:xfrm>
          <a:prstGeom prst="rect">
            <a:avLst/>
          </a:prstGeom>
          <a:solidFill>
            <a:srgbClr val="F4F5F7"/>
          </a:solidFill>
          <a:ln w="1905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lang="ko-KR" altLang="en-US" sz="1600" b="1" dirty="0">
                <a:solidFill>
                  <a:srgbClr val="8C8C8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▶ 스크린샷 삽입 영역</a:t>
            </a:r>
          </a:p>
          <a:p>
            <a:pPr algn="ctr">
              <a:spcBef>
                <a:spcPts val="600"/>
              </a:spcBef>
            </a:pPr>
            <a:r>
              <a:rPr lang="ko-KR" altLang="en-US" sz="1000" b="0" dirty="0">
                <a:solidFill>
                  <a:srgbClr val="A6A6A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번호 마커와 요구사항은 이 위에 직접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50695" y="2075883"/>
            <a:ext cx="4275923" cy="4536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정사각 캔버스 한 장이 화면의 전부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640×640 고정 정사각 캔버스 안에 아레나·타워·적·탄환·파티클이 모두 그려진다.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일반 화면 요소로 만든 것은 일부뿐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상단·측면 HUD와 팝업 계열(상점·이벤트·카드 뽑기·진화 기회·보상 요약·토스트)뿐이다.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중앙 고정 + 원형 궤도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타워는 캔버스 정중앙 고정. 적은 반지름 62~270 링 위를 중심 주위로 공전한다. 아레나 반지름은 290.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가로·세로 HUD가 두 벌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화면 높이가 너비의 1.05배를 넘으면 세로로 판정하고, 같은 HUD 요소를 다른 자리로 실제 이동시킨다.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가로 배치 (PC)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가운데 게임 화면 / 좌상단 스탯 / 좌하단 유물 / 우하단 능력 슬롯 / 우상단 원형 컨트롤. 상단 바는 숨는다.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세로 배치 (폰)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위쪽 가로 HUD 바 / 가운데 게임 화면 / 우상단 원형 컨트롤. 보조 스탯은 접힌 트레이 안으로 들어간다.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해상도 대응은 통짜 축소 하나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화면 크기별 분기 규칙이 없다. 게임 화면을 통째로 축소·확대한다. 우상단 컨트롤만 예외로 항상 같은 크기.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07372" y="553307"/>
            <a:ext cx="720000" cy="41120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ko-KR" altLang="en-US" sz="28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ko-KR" altLang="en-US" sz="18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상시 HUD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2597" y="1275557"/>
            <a:ext cx="7771511" cy="47427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ko-KR" altLang="en-US" sz="12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현행 UI 설명 — 지금 있는 것과 그 동작만 기재 ( 요구사항·변경 요청은 별도 기재 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7200" y="2062800"/>
            <a:ext cx="6282000" cy="3538800"/>
          </a:xfrm>
          <a:prstGeom prst="rect">
            <a:avLst/>
          </a:prstGeom>
          <a:solidFill>
            <a:srgbClr val="F4F5F7"/>
          </a:solidFill>
          <a:ln w="1905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lang="ko-KR" altLang="en-US" sz="1600" b="1" dirty="0">
                <a:solidFill>
                  <a:srgbClr val="8C8C8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▶ 스크린샷 삽입 영역</a:t>
            </a:r>
          </a:p>
          <a:p>
            <a:pPr algn="ctr">
              <a:spcBef>
                <a:spcPts val="600"/>
              </a:spcBef>
            </a:pPr>
            <a:r>
              <a:rPr lang="ko-KR" altLang="en-US" sz="1000" b="0" dirty="0">
                <a:solidFill>
                  <a:srgbClr val="A6A6A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번호 마커와 요구사항은 이 위에 직접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50695" y="2075883"/>
            <a:ext cx="4275923" cy="4536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1-1  라운드 표시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가로는 좌상단 스탯 첫 줄, 세로는 상단 바 왼쪽 칩. 숫자만 갱신되고 애니메이션은 없다.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1-2  남은 시간 + 시간 게이지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라운드당 30초(최종 라운드만 180초). 게이지는 차오르지 않고 줄어든다. 색이 노랑 고정이라 시간이 부족해져도 붉게 변하지 않는다.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1-3  적 카운터 + 위험 게이지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'현재 적 수 / 한계 80'. 플레이어 HP가 없어 이 게이지가 곧 목숨이고, 한계를 넘으면 즉시 패배. 가로에서만 초록→노랑→빨강으로 변색된다.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1-4  골드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세로 상단 바에만 보이고 가로에는 없다. [추정] 골드 비노출 정책을 적용하며 세로 경로만 누락된 것으로 보인다.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1-5  상세 정보 트레이 (세로 전용)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시간 바 오른쪽 작은 버튼으로 여닫는 드롭다운. 점수·누적 강화·레벨·누적 처치 4줄. 여닫는 애니메이션은 없다.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1-6  누적 강화 요약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이벤트·상점·유물·승천으로 쌓인 상시 보정치를 한 줄로 이어 붙인다. 최대 5종이고 하나도 없으면 줄이 사라진다.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1-7  레벨 / 경험치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경험치가 곧 처치 수다. 게이지 없이 텍스트 한 줄뿐이라 레벨업 임박이 예고되지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07372" y="553307"/>
            <a:ext cx="720000" cy="41120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ko-KR" altLang="en-US" sz="28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ko-KR" altLang="en-US" sz="18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상시 HUD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2597" y="1275557"/>
            <a:ext cx="7771511" cy="47427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ko-KR" altLang="en-US" sz="12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현행 UI 설명 — 지금 있는 것과 그 동작만 기재 ( 요구사항·변경 요청은 별도 기재 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7200" y="2062800"/>
            <a:ext cx="6282000" cy="3538800"/>
          </a:xfrm>
          <a:prstGeom prst="rect">
            <a:avLst/>
          </a:prstGeom>
          <a:solidFill>
            <a:srgbClr val="F4F5F7"/>
          </a:solidFill>
          <a:ln w="1905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lang="ko-KR" altLang="en-US" sz="1600" b="1" dirty="0">
                <a:solidFill>
                  <a:srgbClr val="8C8C8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▶ 스크린샷 삽입 영역</a:t>
            </a:r>
          </a:p>
          <a:p>
            <a:pPr algn="ctr">
              <a:spcBef>
                <a:spcPts val="600"/>
              </a:spcBef>
            </a:pPr>
            <a:r>
              <a:rPr lang="ko-KR" altLang="en-US" sz="1000" b="0" dirty="0">
                <a:solidFill>
                  <a:srgbClr val="A6A6A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번호 마커와 요구사항은 이 위에 직접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50695" y="2075883"/>
            <a:ext cx="4275923" cy="4536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1-8  점수 / 누적 처치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가로는 좌상단 스탯, 세로는 트레이 안. 숫자만 갱신되고 별도 연출은 없다.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1-9  플레이 컨트롤 (원형 버튼 5개)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화면 우상단 고정. 배속(1×→2×→3× 순환) / AUTO / 일시정지 / 메뉴 / 리셋. 인게임에서 상시 누를 수 있는 유일한 조작 UI다. 켜지면 테두리 색과 호흡 펄스로 표시된다.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1-10  유물 보기 버튼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보유하면 금색, 0개면 회색으로 죽는다. 누르면 게임이 멈추고 유물 상세가 열린다.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1-11  유물 아이콘 스트립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캔버스 좌하단에 작은 아이콘을 나열하고 14개마다 위로 줄바꿈. 등급색 테두리.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1-12  승천 배지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캔버스 우상단. 승천·초월 단계를 한 줄로 표시하고 승천 0이면 나오지 않는다.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1-13  보스 HP 바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캔버스 상단 중앙. 필드에 보스가 있을 때만 나오고 현재/최대 HP를 바 위에 겹쳐 쓴다.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숨겨져 있어 디자인 대상이 아닌 것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옛 배속·AUTO 버튼, 패널 하단 버튼 줄과 단축키 힌트, 골드 행, 구분선, 랜덤 능력 버튼은 꺼져 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07372" y="553307"/>
            <a:ext cx="720000" cy="41120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ko-KR" altLang="en-US" sz="28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ko-KR" altLang="en-US" sz="18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능력 슬롯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2597" y="1275557"/>
            <a:ext cx="7771511" cy="47427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ko-KR" altLang="en-US" sz="12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현행 UI 설명 — 지금 있는 것과 그 동작만 기재 ( 요구사항·변경 요청은 별도 기재 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7200" y="2062800"/>
            <a:ext cx="6282000" cy="3538800"/>
          </a:xfrm>
          <a:prstGeom prst="rect">
            <a:avLst/>
          </a:prstGeom>
          <a:solidFill>
            <a:srgbClr val="F4F5F7"/>
          </a:solidFill>
          <a:ln w="1905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lang="ko-KR" altLang="en-US" sz="1600" b="1" dirty="0">
                <a:solidFill>
                  <a:srgbClr val="8C8C8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▶ 스크린샷 삽입 영역</a:t>
            </a:r>
          </a:p>
          <a:p>
            <a:pPr algn="ctr">
              <a:spcBef>
                <a:spcPts val="600"/>
              </a:spcBef>
            </a:pPr>
            <a:r>
              <a:rPr lang="ko-KR" altLang="en-US" sz="1000" b="0" dirty="0">
                <a:solidFill>
                  <a:srgbClr val="A6A6A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번호 마커와 요구사항은 이 위에 직접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50695" y="2075883"/>
            <a:ext cx="4275923" cy="4536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2-1  슬롯 수와 탭 구조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가로는 우하단 스크롤 박스, 세로는 아래에서 올라오는 오버레이. ACTIVE / PASSIVE 탭 2개, 기본 각 6칸. 빈 칸도 자리를 차지한다.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2-2  슬롯 한 칸의 생김새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아이콘 위·이름 아래의 2열 아이콘 칩. 오른쪽 위 색 점으로 계열을 알리고 왼쪽에 세로 액센트 바가 붙는다. 빈 칸은 점선 테두리.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2-3  탭하면 뜨는 설명 말풍선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칩 왼쪽에 붙어 뜨고 화면 밖으로 나가면 반대쪽으로 뒤집는다. 레벨·출처 배지, 속성 태그, 효과 설명, 조합 힌트 4줄까지 펼친다.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2-4  쿨다운 표시가 없다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슬롯 어디에도 쿨다운 링·숫자·게이지가 없다. 액티브가 최대 6개 자동 발동되는데 타이밍은 화면 이펙트로만 전달된다.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2-5  액티브 / 패시브 구분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칸 자체에는 표식이 없고 탭으로만 나뉜다. 조합 능력은 액티브 취급이다.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2-6  슬롯이 가득 찼을 때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새 능력을 얻는 대신 보유 능력 하나가 랜덤으로 1레벨 오른다.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2-7  살아 있지 않은 UI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슬롯 안 강화 버튼, 삭제 버튼, 능력 확인 토글은 화면에 나오지 않는다. [추정] 세로에서는 여는 버튼이 꺼져 있어 능력 목록에 도달할 수 없다.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07372" y="553307"/>
            <a:ext cx="720000" cy="41120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ko-KR" altLang="en-US" sz="28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ko-KR" altLang="en-US" sz="18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전투 화면 요소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2597" y="1275557"/>
            <a:ext cx="7771511" cy="47427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ko-KR" altLang="en-US" sz="12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현행 UI 설명 — 지금 있는 것과 그 동작만 기재 ( 요구사항·변경 요청은 별도 기재 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7200" y="2062800"/>
            <a:ext cx="6282000" cy="3538800"/>
          </a:xfrm>
          <a:prstGeom prst="rect">
            <a:avLst/>
          </a:prstGeom>
          <a:solidFill>
            <a:srgbClr val="F4F5F7"/>
          </a:solidFill>
          <a:ln w="1905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lang="ko-KR" altLang="en-US" sz="1600" b="1" dirty="0">
                <a:solidFill>
                  <a:srgbClr val="8C8C8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▶ 스크린샷 삽입 영역</a:t>
            </a:r>
          </a:p>
          <a:p>
            <a:pPr algn="ctr">
              <a:spcBef>
                <a:spcPts val="600"/>
              </a:spcBef>
            </a:pPr>
            <a:r>
              <a:rPr lang="ko-KR" altLang="en-US" sz="1000" b="0" dirty="0">
                <a:solidFill>
                  <a:srgbClr val="A6A6A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번호 마커와 요구사항은 이 위에 직접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50695" y="2075883"/>
            <a:ext cx="4275923" cy="4536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3-0  렌더 순서 — 레이어 25장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매 프레임 배경 → 보스 등장 연출 → 아레나 → 타워 → 적 → 능력 → 탄환 → 파티클 → 데미지 숫자 → 후처리 → UI 순으로 그린다. 3D 렌더 패스 설계에 그대로 대응한다.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3-1  배경 (우주)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라운드가 아니라 승천 단계로 3티어. 게임 시작 때 한 번 정해지고 고정된다. 별·행성·유성이 얹힌다.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3-2  아레나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반지름 290 원형. 바닥 디스크·노이즈 텍스처·회전 스포크·동심 링·회전 점선 링·경계 펄스 7겹이며, 색은 전부 배경 티어 색으로 틴트된다.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3-3  타워 (플레이어)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정중앙 완전 고정. 이동·조준·회전이 없다. 육각 와이어 링과 발밑 펄스 발판 위에 캐릭터 이미지를 얹고, 진화하면 이미지가 통째로 교체된다. 피격 반응은 없다.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3-4  적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일반 5종(소행성·얼음·드론·플라즈마·결정) + 일반 보스 + 특수 보스 7종. 전부 벡터 도형이고 스프라이트가 없다. 중심 주위를 공전하며 타워에 도달하지 않는다.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3-5  상태이상 표식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슬로우는 전용 마커 없이 팔레트를 한랭색으로 통째 교체. 정지는 골드 점선 원. 보호막·재생·분열·돌진은 한 번에 하나만 표시된다.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07372" y="553307"/>
            <a:ext cx="720000" cy="41120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ko-KR" altLang="en-US" sz="28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ko-KR" altLang="en-US" sz="18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전투 화면 요소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2597" y="1275557"/>
            <a:ext cx="7771511" cy="47427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ko-KR" altLang="en-US" sz="12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현행 UI 설명 — 지금 있는 것과 그 동작만 기재 ( 요구사항·변경 요청은 별도 기재 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7200" y="2062800"/>
            <a:ext cx="6282000" cy="3538800"/>
          </a:xfrm>
          <a:prstGeom prst="rect">
            <a:avLst/>
          </a:prstGeom>
          <a:solidFill>
            <a:srgbClr val="F4F5F7"/>
          </a:solidFill>
          <a:ln w="1905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lang="ko-KR" altLang="en-US" sz="1600" b="1" dirty="0">
                <a:solidFill>
                  <a:srgbClr val="8C8C8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▶ 스크린샷 삽입 영역</a:t>
            </a:r>
          </a:p>
          <a:p>
            <a:pPr algn="ctr">
              <a:spcBef>
                <a:spcPts val="600"/>
              </a:spcBef>
            </a:pPr>
            <a:r>
              <a:rPr lang="ko-KR" altLang="en-US" sz="1000" b="0" dirty="0">
                <a:solidFill>
                  <a:srgbClr val="A6A6A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번호 마커와 요구사항은 이 위에 직접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50695" y="2075883"/>
            <a:ext cx="4275923" cy="4536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3-6  투사체 · 빔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탄환은 도형이 아니라 발광 스프라이트를 겹쳐 찍고 3단 꼬리를 남긴다. 빔·폭발·중력장·시계 마법진 등 공용 이펙트 7종이 표준화돼 있다.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3-7  데미지 숫자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검은 그림자를 먼저 찍고 본색을 올려 배경 대비를 확보한다. 감속하며 위로 떠오르다 사라진다. 색·크기 규칙은 10번 항목 참조.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3-8  슬로우 / 정지 수치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슬로우는 이동 속도 0.35배가 기본이고 아무리 강해도 0.10배까지만. 완전 정지는 0배. 정지가 슬로우 자리를 침범하지 않게 막아 둔 구조다.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3-9  파티클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범용 스파크 외에 캐릭터 개성 모티프 9종(음표·나비·꽃잎·달·태양·물방울·별·하트·소용돌이)이 따로 떠다닌다. 상한은 폰 110개 / PC 300개.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3-10  포스트 프로세스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월드를 축소 렌더해 흐린 뒤 가산 합성하는 블룸 + 비네팅 + 가벼운 색보정. 폰에서는 그림자 블러가 전역으로 꺼진다. 3D에서도 가산 블렌드 + 블룸 조합이 있어야 원본 분위기가 산다.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3-11  콤보 카운터는 없다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연속 처치 콤보 시스템 자체가 없다. 이름이 비슷한 두 가지는 조합 완성 시의 가장자리 플래시와 조합 완성 카드다.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07372" y="553307"/>
            <a:ext cx="720000" cy="41120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ko-KR" altLang="en-US" sz="28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ko-KR" altLang="en-US" sz="18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레벨업 카드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2597" y="1275557"/>
            <a:ext cx="7771511" cy="47427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ko-KR" altLang="en-US" sz="12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현행 UI 설명 — 지금 있는 것과 그 동작만 기재 ( 요구사항·변경 요청은 별도 기재 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7200" y="2062800"/>
            <a:ext cx="6282000" cy="3538800"/>
          </a:xfrm>
          <a:prstGeom prst="rect">
            <a:avLst/>
          </a:prstGeom>
          <a:solidFill>
            <a:srgbClr val="F4F5F7"/>
          </a:solidFill>
          <a:ln w="1905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lang="ko-KR" altLang="en-US" sz="1600" b="1" dirty="0">
                <a:solidFill>
                  <a:srgbClr val="8C8C8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▶ 스크린샷 삽입 영역</a:t>
            </a:r>
          </a:p>
          <a:p>
            <a:pPr algn="ctr">
              <a:spcBef>
                <a:spcPts val="600"/>
              </a:spcBef>
            </a:pPr>
            <a:r>
              <a:rPr lang="ko-KR" altLang="en-US" sz="1000" b="0" dirty="0">
                <a:solidFill>
                  <a:srgbClr val="A6A6A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번호 마커와 요구사항은 이 위에 직접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50695" y="2075883"/>
            <a:ext cx="4275923" cy="4536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4-1  언제 뜨나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처치 수가 다음 레벨 기준에 도달할 때. 강화소 보너스가 있으면 게임 시작 직후에도 연속으로 뜬다. 골드로 사는 경로는 제거됐다.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4-2  몇 장 / 리롤 / 취소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항상 정확히 3장. 리롤은 강화소에서 산 경우 카드당 1회. 취소 버튼은 현 빌드에서 나오지 않는다. 3장이 전부 보너스면 5초 뒤 자동 선택된다.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4-3  레이아웃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화면 전체를 어둡게 덮고 175×290 카드 3장을 가로로 놓는다. 위에 제목과 부제 한 줄씩.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4-4  카드 한 장의 구성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코너 꺾쇠 · 등급 라벨 · 아이콘 · 종류 태그 · 속성 태그 · 이름 · 레벨 변화 · 효과 설명 · 조합 힌트 3줄 · 하단 번호 키. 비용 표시는 없다.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4-5  등급색 9종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NEW · UPGRADE · 조합 · 히든 조합 · 점수 · 스타더스트 · ASCENDANT · LUCKY · SUPER LUCKY. 각각 배경·테두리·이름색·글로우가 세트로 정의돼 있다.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4-6  등급별 연출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모달이 페이드인하며 카드가 아래에서 떠오른다. 히든 조합은 금색 맥동, LUCKY는 초록 글로우와 공전 스파클, SUPER LUCKY는 무지개 헤일로 3겹.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4-7  선택 직후 피드백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토스트 + 가장자리 플래시 + 파티클 + 흔들림이 조합돼 나간다. 조합 완성 시에는 화면 중앙에 완성 카드가 뜬다.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07372" y="553307"/>
            <a:ext cx="720000" cy="41120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ko-KR" altLang="en-US" sz="28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ko-KR" altLang="en-US" sz="18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인게임 팝업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2597" y="1275557"/>
            <a:ext cx="7771511" cy="47427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ko-KR" altLang="en-US" sz="12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현행 UI 설명 — 지금 있는 것과 그 동작만 기재 ( 요구사항·변경 요청은 별도 기재 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7200" y="2062800"/>
            <a:ext cx="6282000" cy="3538800"/>
          </a:xfrm>
          <a:prstGeom prst="rect">
            <a:avLst/>
          </a:prstGeom>
          <a:solidFill>
            <a:srgbClr val="F4F5F7"/>
          </a:solidFill>
          <a:ln w="1905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lang="ko-KR" altLang="en-US" sz="1600" b="1" dirty="0">
                <a:solidFill>
                  <a:srgbClr val="8C8C8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▶ 스크린샷 삽입 영역</a:t>
            </a:r>
          </a:p>
          <a:p>
            <a:pPr algn="ctr">
              <a:spcBef>
                <a:spcPts val="600"/>
              </a:spcBef>
            </a:pPr>
            <a:r>
              <a:rPr lang="ko-KR" altLang="en-US" sz="1000" b="0" dirty="0">
                <a:solidFill>
                  <a:srgbClr val="A6A6A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번호 마커와 요구사항은 이 위에 직접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50695" y="2075883"/>
            <a:ext cx="4275923" cy="4536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공통 규칙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모든 팝업은 열리는 순간 게임을 멈춘다. 배경을 어둡게 흐리고, PC는 왼쪽 NPC 일러스트 / 오른쪽 패널로 가로 분할하며 좁은 화면에서는 세로로 쌓인다.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5-1  운명의 카드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보스 처치 직후. 뒷면 카드 3장이 시차를 두고 딜링되고, 고른 카드만 0.6초 동안 3D로 뒤집혀 타로 NPC가 나온다. NPC 13종. 이 게임의 유일한 카드 뒤집기 연출이다.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5-2  사건 (이벤트)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왼쪽 NPC 일러스트 + 오른쪽 대사와 선택지. 선택지는 보통 2개이고 넘어가기로 전부 거절할 수 있다. 고르면 그 자리가 결과 아이콘 행으로 교체된다. 대박·저주·유물·진화 4가지 변형이 있다.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5-3  떠돌이 상점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상인 일러스트 + 2열 스크롤 그리드에 상품 8종. 전부 무료이고 딱 하나만 고른다. 등급이 높을수록 글로우가 커지고 전설·영웅은 밝기가 맥동한다.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07372" y="553307"/>
            <a:ext cx="720000" cy="41120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ko-KR" altLang="en-US" sz="28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ko-KR" altLang="en-US" sz="18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인게임 팝업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2597" y="1275557"/>
            <a:ext cx="7771511" cy="47427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ko-KR" altLang="en-US" sz="12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현행 UI 설명 — 지금 있는 것과 그 동작만 기재 ( 요구사항·변경 요청은 별도 기재 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7200" y="2062800"/>
            <a:ext cx="6282000" cy="3538800"/>
          </a:xfrm>
          <a:prstGeom prst="rect">
            <a:avLst/>
          </a:prstGeom>
          <a:solidFill>
            <a:srgbClr val="F4F5F7"/>
          </a:solidFill>
          <a:ln w="1905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lang="ko-KR" altLang="en-US" sz="1600" b="1" dirty="0">
                <a:solidFill>
                  <a:srgbClr val="8C8C8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▶ 스크린샷 삽입 영역</a:t>
            </a:r>
          </a:p>
          <a:p>
            <a:pPr algn="ctr">
              <a:spcBef>
                <a:spcPts val="600"/>
              </a:spcBef>
            </a:pPr>
            <a:r>
              <a:rPr lang="ko-KR" altLang="en-US" sz="1000" b="0" dirty="0">
                <a:solidFill>
                  <a:srgbClr val="A6A6A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번호 마커와 요구사항은 이 위에 직접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50695" y="2075883"/>
            <a:ext cx="4275923" cy="4536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5-4  기습 컷인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1.6초짜리 난입 연출. 흰 플래시 → 대각 스피드라인 → 방사 글로우 → NPC가 오른쪽에서 오버슈트하며 슬라이드인 → 기울어진 이름 배너 → 대사 한 줄 순으로 쌓인다.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5-5  상점 등장 컷인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기습과 정반대 톤. 화면이 암전된 뒤 등불이 더듬거리며 켜지고 상인이 어둠에서 서서히 떠오른다. 1.7초.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5-6  진화 기회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R20 / R40 보스 처치 후. 캐릭터 일러스트 · 등급 · 이름 · 대사 · 새 능력 · 진화/거절 버튼이 든 중앙 카드. 등장 트랜지션은 없다. 수락하면 타워에서 빛기둥이 솟는다.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[추정] R 진화용 카드 뽑기 화면이 코드에 남아 있으나 어디서도 호출되지 않아 죽은 코드로 보인다.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5-7  유물 제단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캔버스에 그리는 세로 제단형 카드. 등급 헤더·이름·설명이 등급색 테두리 안에 들어가고 스킵할 수 없다.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5-8  엔드리스 진입 확인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R100 클리어 시. 승리 문구와 안내 3줄, 계속/종료 버튼 2개. 기록은 이미 저장됐다고 명시한다.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07372" y="553307"/>
            <a:ext cx="720000" cy="41120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ko-KR" altLang="en-US" sz="28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7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ko-KR" altLang="en-US" sz="18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경고 · 피드백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2597" y="1275557"/>
            <a:ext cx="7771511" cy="47427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ko-KR" altLang="en-US" sz="12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현행 UI 설명 — 지금 있는 것과 그 동작만 기재 ( 요구사항·변경 요청은 별도 기재 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7200" y="2062800"/>
            <a:ext cx="6282000" cy="3538800"/>
          </a:xfrm>
          <a:prstGeom prst="rect">
            <a:avLst/>
          </a:prstGeom>
          <a:solidFill>
            <a:srgbClr val="F4F5F7"/>
          </a:solidFill>
          <a:ln w="1905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lang="ko-KR" altLang="en-US" sz="1600" b="1" dirty="0">
                <a:solidFill>
                  <a:srgbClr val="8C8C8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▶ 스크린샷 삽입 영역</a:t>
            </a:r>
          </a:p>
          <a:p>
            <a:pPr algn="ctr">
              <a:spcBef>
                <a:spcPts val="600"/>
              </a:spcBef>
            </a:pPr>
            <a:r>
              <a:rPr lang="ko-KR" altLang="en-US" sz="1000" b="0" dirty="0">
                <a:solidFill>
                  <a:srgbClr val="A6A6A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번호 마커와 요구사항은 이 위에 직접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50695" y="2075883"/>
            <a:ext cx="4275923" cy="4536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6-1  토스트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게임 화면 상단 중앙에 살짝 내려오며 뜨고 1.2초 뒤 사라진다. 색·타입 구분이 없는 단일 슬롯이라, 연출이 몰리는 순간 새 메시지가 이전 것을 즉시 밀어낸다.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6-2  화면 흔들림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월드 레이어에만 걸리고 배경과 UI는 고정이다. 강도가 의도적으로 눌려 있어 화면상 최대 5px, 매 프레임 감쇠한다.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6-3  콤보 플래시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풀스크린 번쩍임이 아니라 가장자리 비네트다(야간 눈부심 완화). 최대 불투명도 30%. 조합·행운·유물·진화·부활마다 색과 길이가 다르다.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6-4  보스 등장 연출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3단이다. 일반 보스는 0.8초 경고 텍스트, 특수 보스는 2초 시네마틱(월드 아래에서 진행돼 '뒤에서 다가오는' 느낌, 게임은 멈추지 않음), 그리고 스폰 순간의 오버슈트 확대.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6-5  라운드 클리어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화면 중앙 위에 클리어 문구와 획득 점수·단축 시간이 스케일 인 후 사라진다.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07372" y="553307"/>
            <a:ext cx="720000" cy="41120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ko-KR" altLang="en-US" sz="28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8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ko-KR" altLang="en-US" sz="18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일시정지 · 설정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2597" y="1275557"/>
            <a:ext cx="7771511" cy="47427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ko-KR" altLang="en-US" sz="12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현행 UI 설명 — 지금 있는 것과 그 동작만 기재 ( 요구사항·변경 요청은 별도 기재 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7200" y="2062800"/>
            <a:ext cx="6282000" cy="3538800"/>
          </a:xfrm>
          <a:prstGeom prst="rect">
            <a:avLst/>
          </a:prstGeom>
          <a:solidFill>
            <a:srgbClr val="F4F5F7"/>
          </a:solidFill>
          <a:ln w="1905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lang="ko-KR" altLang="en-US" sz="1600" b="1" dirty="0">
                <a:solidFill>
                  <a:srgbClr val="8C8C8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▶ 스크린샷 삽입 영역</a:t>
            </a:r>
          </a:p>
          <a:p>
            <a:pPr algn="ctr">
              <a:spcBef>
                <a:spcPts val="600"/>
              </a:spcBef>
            </a:pPr>
            <a:r>
              <a:rPr lang="ko-KR" altLang="en-US" sz="1000" b="0" dirty="0">
                <a:solidFill>
                  <a:srgbClr val="A6A6A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번호 마커와 요구사항은 이 위에 직접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50695" y="2075883"/>
            <a:ext cx="4275923" cy="4536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7-1  일시정지 화면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전용 메뉴가 없고 캔버스에 직접 그린다. 화면을 어둡게 덮고 PAUSED · 현재 라운드 · 점수 · 재개 안내 4줄만 세로로 놓는다. 페이드 없이 즉시 나타난다.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7-2  인게임 설정이 없다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사운드·그래픽 설정은 메인 메뉴 안에만 있다. 플레이 중에는 열 수 없다. 3D에서 품질 옵션을 넣는다면 이 자리를 새로 만들어야 한다.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7-3  단축키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평상시 Space 일시정지 / R 리셋 / 1·2·3 배속. 카드 화면에서 1·2·3 선택, R 리롤. 게임오버에서 R 다시하기, ESC 메인 메뉴. 화면의 단축키 힌트 줄은 꺼져 있다.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7-4  리셋 / 메뉴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리셋은 브라우저 기본 확인 대화상자를 쓴다. 메뉴는 판을 유지한 채 멈추고 나가므로 돌아와 이어 할 수 있다.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들어가는 경로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우상단 일시정지 버튼, 스페이스바, 유물 상세 열기, 모든 팝업이 열리는 순간.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07372" y="553307"/>
            <a:ext cx="720000" cy="41120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ko-KR" altLang="en-US" sz="28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9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ko-KR" altLang="en-US" sz="18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게임 종료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2597" y="1275557"/>
            <a:ext cx="7771511" cy="47427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ko-KR" altLang="en-US" sz="12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현행 UI 설명 — 지금 있는 것과 그 동작만 기재 ( 요구사항·변경 요청은 별도 기재 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7200" y="2062800"/>
            <a:ext cx="6282000" cy="3538800"/>
          </a:xfrm>
          <a:prstGeom prst="rect">
            <a:avLst/>
          </a:prstGeom>
          <a:solidFill>
            <a:srgbClr val="F4F5F7"/>
          </a:solidFill>
          <a:ln w="1905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lang="ko-KR" altLang="en-US" sz="1600" b="1" dirty="0">
                <a:solidFill>
                  <a:srgbClr val="8C8C8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▶ 스크린샷 삽입 영역</a:t>
            </a:r>
          </a:p>
          <a:p>
            <a:pPr algn="ctr">
              <a:spcBef>
                <a:spcPts val="600"/>
              </a:spcBef>
            </a:pPr>
            <a:r>
              <a:rPr lang="ko-KR" altLang="en-US" sz="1000" b="0" dirty="0">
                <a:solidFill>
                  <a:srgbClr val="A6A6A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번호 마커와 요구사항은 이 위에 직접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50695" y="2075883"/>
            <a:ext cx="4275923" cy="4536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8-1  게임오버 / 승리 화면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캔버스에 직접 그리고 실시간 타임라인으로 쌓인다. 타이틀이 살짝 줌아웃하며 뜨고 → 신기록 배지 또는 패배 사유 → 도달 라운드와 점수 카운트업 → 보상 블록 → 버튼 3개 순이다.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패배 사유 문구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'적이 80마리를 넘김'처럼 적 수용 한계 초과를 직접 알린다. 타워가 부서져서 지는 것이 아니다.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보상 블록 7종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남은 골드의 장비 재화 환산 · 승천 보너스 배율 · 스타더스트 · 승천 해금 · 결정 · 신규 업적 · 반복 업적 순으로, 값이 있는 것만 뜬다.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버튼 3개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다시 하기(금색) · 딜량 통계(시안) · 메인 메뉴(청회색).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8-2  딜량 통계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게임오버 화면에서만 열 수 있다. 능력별 누적 데미지를 이름·태그·레벨·수치와 가로 막대로 보여준다. 퍼센트는 전체 대비, 막대 길이는 1위 대비라 기준이 서로 다르다.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8-3  획득 보상 요약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게임오버 직후, 새로 해금된 것이 하나라도 있을 때만 뜨는 별도 카드. 각 행에 기울어진 NEW 배지가 붙는다.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07372" y="553307"/>
            <a:ext cx="720000" cy="41120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ko-KR" altLang="en-US" sz="28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10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ko-KR" altLang="en-US" sz="18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3D 전환 시 구조적 제약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2597" y="1275557"/>
            <a:ext cx="7771511" cy="47427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ko-KR" altLang="en-US" sz="12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현행 UI 설명 — 지금 있는 것과 그 동작만 기재 ( 요구사항·변경 요청은 별도 기재 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7200" y="2062800"/>
            <a:ext cx="6282000" cy="3538800"/>
          </a:xfrm>
          <a:prstGeom prst="rect">
            <a:avLst/>
          </a:prstGeom>
          <a:solidFill>
            <a:srgbClr val="F4F5F7"/>
          </a:solidFill>
          <a:ln w="1905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lang="ko-KR" altLang="en-US" sz="1600" b="1" dirty="0">
                <a:solidFill>
                  <a:srgbClr val="8C8C8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▶ 스크린샷 삽입 영역</a:t>
            </a:r>
          </a:p>
          <a:p>
            <a:pPr algn="ctr">
              <a:spcBef>
                <a:spcPts val="600"/>
              </a:spcBef>
            </a:pPr>
            <a:r>
              <a:rPr lang="ko-KR" altLang="en-US" sz="1000" b="0" dirty="0">
                <a:solidFill>
                  <a:srgbClr val="A6A6A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번호 마커와 요구사항은 이 위에 직접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50695" y="2075883"/>
            <a:ext cx="4275923" cy="4536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① 극좌표 + 중심 고정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타워는 캔버스 정중앙 (320, 320)에 못 박혀 있고 코드 전반이 이 중심 좌표를 전제로 쓴다(중심 X 860회 · Y 835회 참조). 적은 각도와 반지름으로 관리되며 반지름 62~270 링을 공전한다. 아레나 반지름은 290.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패배 조건이 일반 타워디펜스와 다르다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적은 타워에 도달하지 않는다. 안팎을 배회하며 계속 돌 뿐이고, 패배는 화면의 적이 80마리를 넘길 때 발생한다. 따라서 3D에서는 '필드 위 적 밀도가 즉각 읽히는가'가 위험 게이지의 대체재가 된다.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② 핵심 UI가 게임 렌더러 안에 있다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레벨업 카드 선택과 결과 화면이 일반 화면 요소가 아니라 캔버스 직접 렌더 + 수동 사각형 히트박스다. 일시정지·유물 제단·엔드리스 확인도 같다. 3D로 옮길 때 전부 새로 만들어야 한다.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③ 640×640 고정 정사각 · 화면 분기 규칙 0개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해상도 대응이 통짜 확대·축소 하나뿐이고, 세로/가로 HUD는 같은 요소를 물리적으로 다른 자리로 옮겨 두 벌을 만든다. 3D는 실제 종횡비를 갖게 되므로 이 방식은 그대로 가져갈 수 없다.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07372" y="553307"/>
            <a:ext cx="720000" cy="41120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ko-KR" altLang="en-US" sz="28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10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ko-KR" altLang="en-US" sz="18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3D 전환 시 구조적 제약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2597" y="1275557"/>
            <a:ext cx="7771511" cy="47427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ko-KR" altLang="en-US" sz="12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현행 UI 설명 — 지금 있는 것과 그 동작만 기재 ( 요구사항·변경 요청은 별도 기재 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7200" y="2062800"/>
            <a:ext cx="6282000" cy="3538800"/>
          </a:xfrm>
          <a:prstGeom prst="rect">
            <a:avLst/>
          </a:prstGeom>
          <a:solidFill>
            <a:srgbClr val="F4F5F7"/>
          </a:solidFill>
          <a:ln w="1905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lang="ko-KR" altLang="en-US" sz="1600" b="1" dirty="0">
                <a:solidFill>
                  <a:srgbClr val="8C8C8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▶ 스크린샷 삽입 영역</a:t>
            </a:r>
          </a:p>
          <a:p>
            <a:pPr algn="ctr">
              <a:spcBef>
                <a:spcPts val="600"/>
              </a:spcBef>
            </a:pPr>
            <a:r>
              <a:rPr lang="ko-KR" altLang="en-US" sz="1000" b="0" dirty="0">
                <a:solidFill>
                  <a:srgbClr val="A6A6A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번호 마커와 요구사항은 이 위에 직접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50695" y="2075883"/>
            <a:ext cx="4275923" cy="4536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데미지 숫자 규칙 — 크기는 피해량, 색은 상태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CC 취약 상태로 때리면 하늘색(#88ddff), 30 이상의 큰 피해는 금색(#ffd479) 13px, 그 외는 흰색(#dde2ec) 10px. 두 축을 일부러 분리한 설계이므로 3D에서도 이 분리를 유지해야 한다.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엘리트 적은 시각적 구분이 전혀 없다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엘리트 표시가 렌더에서 한 번도 읽히지 않는다. HP 3배·크기 7→9·속도 1.35배·보호막이 붙지만 화면에서는 '약간 큰 적'으로만 보이고 보호막 링도 뜨지 않는다. 반드시 보강 대상.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능력 쿨다운이 HUD에 표시되지 않는다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액티브가 최대 6개 자동 발동되는데 언제 나가는지 알려 주는 표시가 슬롯에 없다. 3D 기획에서 채울지 말지 결정이 필요하다.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150"/>
              </a:spcAft>
            </a:pPr>
            <a:r>
              <a:rPr lang="ko-KR" alt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상태이상 필드가 2개뿐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450"/>
              </a:spcAft>
            </a:pPr>
            <a:r>
              <a:rPr lang="ko-KR" altLang="en-US" sz="1000" b="0" dirty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적이 실제로 갖는 상태는 감속과 정지 둘뿐이다. 독·화상·표식·출혈 같은 지속 상태는 필드 자체가 없고 즉시 피해로 처리돼 지속 마커가 없다. 보호막·재생·분열·돌진도 한 번에 하나만 표시된다.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426</Words>
  <Application>Microsoft Office PowerPoint</Application>
  <PresentationFormat>와이드스크린</PresentationFormat>
  <Paragraphs>110</Paragraphs>
  <Slides>10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Noto Sans KR</vt:lpstr>
      <vt:lpstr>맑은 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solid</dc:creator>
  <cp:lastModifiedBy>solid</cp:lastModifiedBy>
  <cp:revision>28</cp:revision>
  <dcterms:created xsi:type="dcterms:W3CDTF">2026-06-29T01:18:14Z</dcterms:created>
  <dcterms:modified xsi:type="dcterms:W3CDTF">2026-06-30T06:55:13Z</dcterms:modified>
</cp:coreProperties>
</file>